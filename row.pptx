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1015" r:id="rId3"/>
    <p:sldId id="1016" r:id="rId4"/>
    <p:sldId id="1017" r:id="rId5"/>
    <p:sldId id="1018" r:id="rId6"/>
    <p:sldId id="1019" r:id="rId7"/>
    <p:sldId id="1020" r:id="rId8"/>
    <p:sldId id="1021" r:id="rId9"/>
    <p:sldId id="1022" r:id="rId10"/>
    <p:sldId id="1023" r:id="rId11"/>
    <p:sldId id="1024" r:id="rId12"/>
    <p:sldId id="1025" r:id="rId13"/>
    <p:sldId id="1026" r:id="rId14"/>
    <p:sldId id="1027" r:id="rId15"/>
    <p:sldId id="1028" r:id="rId16"/>
    <p:sldId id="1029" r:id="rId17"/>
    <p:sldId id="1030" r:id="rId18"/>
    <p:sldId id="1031" r:id="rId19"/>
    <p:sldId id="1032" r:id="rId20"/>
    <p:sldId id="1033" r:id="rId21"/>
    <p:sldId id="1034" r:id="rId22"/>
    <p:sldId id="1035" r:id="rId23"/>
    <p:sldId id="1036" r:id="rId24"/>
    <p:sldId id="1037" r:id="rId25"/>
    <p:sldId id="1038" r:id="rId26"/>
    <p:sldId id="103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69938-D501-46C2-8431-9F778F4DC248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7F30DA-7BB6-4283-8788-C7B80590A4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872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667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3646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468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3624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89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4907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244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1305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75266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1284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91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9428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2526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8512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113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4165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3635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9066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60719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9761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3686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4710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9369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31354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D10B11D-9607-4E76-A959-B43D33330E98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032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54B38-D518-4DFB-8153-DBB7BDE05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C4A9DF-361E-4FED-B3A1-38D490B93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D328A3-3B27-46AB-A0E7-FF8F6FA6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9FE98-38F0-4E78-ADBA-958C72C55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5CB1D-6C81-4E76-B450-8A300F418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26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16639-9CF9-459B-8540-3FD7AEDEE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3E3CD-769E-4EBD-AE22-490282A87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43B9E-5953-4FA0-9DD6-B2CBA7031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B8ACC-B2FB-4FA7-A7E3-C74A7C013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2488C-B39C-4F62-B975-2F073B3EE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333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CBFDE-A9B0-48C6-971D-6B3033B73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082AC-B44E-4847-8453-57490C67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3E502-ACEB-455E-B525-5EFF0E57B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3C2675-99CF-4E80-B404-895DE02EF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7A50D-1BDF-4D77-9A97-0D42D13E0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061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3C7AF-5F0C-4DAD-87D8-2479ABFF8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26B064-52BC-46B3-941C-1290E3C66D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5AE89-DD98-4A43-9C6D-068E08F1F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80CCCF-EEB7-4C0A-8A91-932225FB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75134-9B46-4111-8CD0-9C6099E0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6B0D5-276D-44A9-A87B-1C641E72A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81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7112A-7383-44BE-8D1F-3B1FD394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88C5B-3032-45EF-832E-1DB83C967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FBBF0-173D-4F9D-B8C3-8B9512DB5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50307B-D0F1-4423-91A8-9A8CEA86D5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5341DB-3E1D-45DB-94A3-A8153DC29E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EC7C78-C385-486A-9D6D-DD398956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B8DF9-2419-436C-B6CE-7023D836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3C2212-52DF-4A85-8B3A-A1C910526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565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9A1E4-4F02-49B2-9207-0912AC7D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BEE2C4-C01A-46DE-AEFA-AC22278A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F321C-273F-4302-B32B-04A6079A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FD451-4EF0-485C-B089-EAD65FC8C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488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0BBA2-24F2-4849-9AC2-47C47183B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A2793-39D0-4979-BD4E-85005139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864F28-5B03-4D59-9C7F-D4F9887B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3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C7F9-7BBB-4A81-8D61-642A7BDD2E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8D13-BB49-4CA6-8DCA-73C99B85B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8845E-DFFF-40E9-B361-FED2EA770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5BEDE1-9BDB-4E46-BD14-AC572F2BE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CE1CA-32D6-4377-80F1-A991B82F9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8AC972-FC25-44CC-93F3-3CE516C47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454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6F412-114A-4EB7-8099-010B9FAF3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BDF7E8-368D-4693-B1C3-4749B7A599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05351-DE0E-4156-93B1-3C4596047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33744D-81E7-41B1-80DE-AF18C92EF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DD9B5-553B-4319-BAC4-E7CE26332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089D1-96FF-400A-A113-DC52B83A9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069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CED7-07F0-44D1-8841-4686617E6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5E39F5-6548-4BAC-A6A4-1E3991C25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02B73-99CD-44B6-9888-D6288C026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A84D8-2B65-4D4D-8642-C34D2EFE8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6A1FB-BF61-4207-B0AF-5C2CA30A5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34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062B89-3352-411D-9797-789A96BCC2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8CE4C2-BCD0-4DA3-9806-B36BCFBF2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25DBB-6CDC-4D2E-97F0-924B2CF37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10D54-D153-4C7A-A196-E1EE3A2F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63259-E15C-4F21-B0C6-A3A8923F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451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477001"/>
            <a:ext cx="3860800" cy="244475"/>
          </a:xfrm>
        </p:spPr>
        <p:txBody>
          <a:bodyPr/>
          <a:lstStyle>
            <a:lvl1pPr>
              <a:defRPr sz="700">
                <a:latin typeface="Helvetica Neue Light"/>
              </a:defRPr>
            </a:lvl1pPr>
          </a:lstStyle>
          <a:p>
            <a:r>
              <a:rPr lang="en-GB" dirty="0">
                <a:solidFill>
                  <a:srgbClr val="000000"/>
                </a:solidFill>
                <a:cs typeface="Helvetica Neue Light"/>
              </a:rPr>
              <a:t>Confidential | DD.MM.YY | version #</a:t>
            </a:r>
            <a:endParaRPr lang="en-US" dirty="0">
              <a:solidFill>
                <a:srgbClr val="000000">
                  <a:tint val="75000"/>
                </a:srgbClr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304800" y="2971800"/>
            <a:ext cx="10668000" cy="457200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2800" b="0" kern="1200" dirty="0" smtClean="0">
                <a:solidFill>
                  <a:schemeClr val="tx1"/>
                </a:solidFill>
                <a:latin typeface="Helvetica Neue"/>
                <a:ea typeface="+mj-ea"/>
                <a:cs typeface="+mj-cs"/>
              </a:defRPr>
            </a:lvl1pPr>
          </a:lstStyle>
          <a:p>
            <a:pPr lvl="0"/>
            <a:r>
              <a:rPr lang="en-GB" sz="2100" b="1" dirty="0">
                <a:latin typeface="Helvetica Neue"/>
                <a:cs typeface="Helvetica Neue"/>
              </a:rPr>
              <a:t>Divider slide title.</a:t>
            </a:r>
            <a:endParaRPr lang="en-US" dirty="0"/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304800" y="3429000"/>
            <a:ext cx="10668000" cy="457200"/>
          </a:xfr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en-US" sz="1400" b="0" kern="1200" dirty="0" smtClean="0">
                <a:solidFill>
                  <a:schemeClr val="tx1"/>
                </a:solidFill>
                <a:latin typeface="Helvetica Neue"/>
                <a:ea typeface="+mj-ea"/>
                <a:cs typeface="+mj-cs"/>
              </a:defRPr>
            </a:lvl1pPr>
          </a:lstStyle>
          <a:p>
            <a:r>
              <a:rPr lang="en-GB" sz="2100" dirty="0">
                <a:latin typeface="Helvetica Neue"/>
                <a:cs typeface="Helvetica Neue Light"/>
              </a:rPr>
              <a:t>Second line.</a:t>
            </a:r>
            <a:endParaRPr lang="en-GB" dirty="0">
              <a:latin typeface="Helvetica Neue Light"/>
              <a:cs typeface="Helvetica Neue Ligh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F8130-DDC5-4EE8-9A6B-C5A0ADD57C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7600" y="176889"/>
            <a:ext cx="685197" cy="652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897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007" y="79789"/>
            <a:ext cx="772573" cy="57943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0" y="0"/>
            <a:ext cx="12192000" cy="76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76200"/>
            <a:ext cx="10769600" cy="304800"/>
          </a:xfrm>
        </p:spPr>
        <p:txBody>
          <a:bodyPr>
            <a:normAutofit/>
          </a:bodyPr>
          <a:lstStyle>
            <a:lvl1pPr>
              <a:buNone/>
              <a:defRPr sz="1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>
                <a:solidFill>
                  <a:srgbClr val="FFFFFF"/>
                </a:solidFill>
              </a:rPr>
              <a:t>Headline</a:t>
            </a:r>
            <a:endParaRPr lang="en-US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06400" y="381000"/>
            <a:ext cx="10769600" cy="304800"/>
          </a:xfrm>
        </p:spPr>
        <p:txBody>
          <a:bodyPr>
            <a:normAutofit/>
          </a:bodyPr>
          <a:lstStyle>
            <a:lvl1pPr>
              <a:buNone/>
              <a:defRPr sz="14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>
                <a:solidFill>
                  <a:srgbClr val="FFFFFF"/>
                </a:solidFill>
              </a:rPr>
              <a:t>Headline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200" y="79789"/>
            <a:ext cx="572380" cy="579430"/>
          </a:xfrm>
          <a:prstGeom prst="rect">
            <a:avLst/>
          </a:prstGeom>
        </p:spPr>
      </p:pic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26658" y="6624380"/>
            <a:ext cx="182742" cy="184666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6A94BC8-5033-4C8B-8434-02718827CC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15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03434AF-8F32-4B5A-8E88-3B21E7D53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02F69-1CEC-4754-9C52-53737A9E1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E02CC-7F20-42C7-9FCE-898131DED1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06EA0-BEE2-4DBE-B42B-1B7B4D225E92}" type="datetimeFigureOut">
              <a:rPr lang="en-IN" smtClean="0"/>
              <a:t>01-03-2026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9095-AC73-4233-965A-395590DCA5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5C1CC-E1E3-4E13-8043-94CD4F3C9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7B50D-F318-46F7-A2D2-BB1634DD3C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3540B-035A-48E0-8CC2-0F183D25C2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B1B777-62CC-4F53-B271-779A6D722C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475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DEE6B6-C7BD-46F9-99AA-28BA8D647046}"/>
              </a:ext>
            </a:extLst>
          </p:cNvPr>
          <p:cNvSpPr/>
          <p:nvPr/>
        </p:nvSpPr>
        <p:spPr bwMode="gray">
          <a:xfrm>
            <a:off x="407988" y="2998380"/>
            <a:ext cx="10636472" cy="861240"/>
          </a:xfrm>
          <a:prstGeom prst="roundRect">
            <a:avLst>
              <a:gd name="adj" fmla="val 50000"/>
            </a:avLst>
          </a:prstGeom>
          <a:gradFill>
            <a:gsLst>
              <a:gs pos="95725">
                <a:schemeClr val="bg1">
                  <a:lumMod val="95000"/>
                </a:schemeClr>
              </a:gs>
              <a:gs pos="0">
                <a:schemeClr val="bg1"/>
              </a:gs>
            </a:gsLst>
            <a:path path="circle">
              <a:fillToRect l="100000" t="100000"/>
            </a:path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4000"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ROW Application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8599A42-8585-472E-BBFA-481FFC59E8DA}"/>
              </a:ext>
            </a:extLst>
          </p:cNvPr>
          <p:cNvSpPr/>
          <p:nvPr/>
        </p:nvSpPr>
        <p:spPr bwMode="gray">
          <a:xfrm>
            <a:off x="503242" y="3058718"/>
            <a:ext cx="770921" cy="770921"/>
          </a:xfrm>
          <a:prstGeom prst="ellipse">
            <a:avLst/>
          </a:prstGeom>
          <a:gradFill flip="none" rotWithShape="1">
            <a:gsLst>
              <a:gs pos="95725">
                <a:srgbClr val="00B0F0"/>
              </a:gs>
              <a:gs pos="0">
                <a:srgbClr val="002060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US" sz="2800" b="1" dirty="0"/>
              <a:t>7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5952955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D87CC82-CCB9-4A02-B074-549540AE0C8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393194" y="2030819"/>
            <a:ext cx="9250869" cy="4593561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9329DD-5CA1-4DB8-A624-86DD19FC102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194" y="1241650"/>
          <a:ext cx="9250868" cy="622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0666">
                  <a:extLst>
                    <a:ext uri="{9D8B030D-6E8A-4147-A177-3AD203B41FA5}">
                      <a16:colId xmlns:a16="http://schemas.microsoft.com/office/drawing/2014/main" val="2321824936"/>
                    </a:ext>
                  </a:extLst>
                </a:gridCol>
                <a:gridCol w="2083982">
                  <a:extLst>
                    <a:ext uri="{9D8B030D-6E8A-4147-A177-3AD203B41FA5}">
                      <a16:colId xmlns:a16="http://schemas.microsoft.com/office/drawing/2014/main" val="1135303824"/>
                    </a:ext>
                  </a:extLst>
                </a:gridCol>
                <a:gridCol w="1158949">
                  <a:extLst>
                    <a:ext uri="{9D8B030D-6E8A-4147-A177-3AD203B41FA5}">
                      <a16:colId xmlns:a16="http://schemas.microsoft.com/office/drawing/2014/main" val="1215839863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1904970037"/>
                    </a:ext>
                  </a:extLst>
                </a:gridCol>
                <a:gridCol w="1903228">
                  <a:extLst>
                    <a:ext uri="{9D8B030D-6E8A-4147-A177-3AD203B41FA5}">
                      <a16:colId xmlns:a16="http://schemas.microsoft.com/office/drawing/2014/main" val="1959164934"/>
                    </a:ext>
                  </a:extLst>
                </a:gridCol>
                <a:gridCol w="1116750">
                  <a:extLst>
                    <a:ext uri="{9D8B030D-6E8A-4147-A177-3AD203B41FA5}">
                      <a16:colId xmlns:a16="http://schemas.microsoft.com/office/drawing/2014/main" val="1504375786"/>
                    </a:ext>
                  </a:extLst>
                </a:gridCol>
              </a:tblGrid>
              <a:tr h="2987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Workflow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Task_Name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System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Application Type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Role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Location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738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ROW Application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Create ROW Application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ROW Executive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4418"/>
                  </a:ext>
                </a:extLst>
              </a:tr>
            </a:tbl>
          </a:graphicData>
        </a:graphic>
      </p:graphicFrame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8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3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User to click on “Manage ROW Draft Application” tab on PUBLIC ROW main tile on K2 screen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EEC3B-BA87-4236-8F51-12E8DC7DD27E}"/>
              </a:ext>
            </a:extLst>
          </p:cNvPr>
          <p:cNvSpPr txBox="1"/>
          <p:nvPr/>
        </p:nvSpPr>
        <p:spPr bwMode="gray">
          <a:xfrm>
            <a:off x="471783" y="930091"/>
            <a:ext cx="236481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1F4798"/>
                </a:solidFill>
              </a:rPr>
              <a:t>Create ROW Application</a:t>
            </a:r>
            <a:endParaRPr lang="en-IN" sz="1600" b="1" dirty="0">
              <a:solidFill>
                <a:srgbClr val="1F47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383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BF5303-6D68-42C0-8AEB-E9643475EF8B}"/>
              </a:ext>
            </a:extLst>
          </p:cNvPr>
          <p:cNvPicPr/>
          <p:nvPr/>
        </p:nvPicPr>
        <p:blipFill rotWithShape="1">
          <a:blip r:embed="rId3"/>
          <a:srcRect l="809" t="809" r="809" b="809"/>
          <a:stretch/>
        </p:blipFill>
        <p:spPr bwMode="gray">
          <a:xfrm>
            <a:off x="393194" y="874254"/>
            <a:ext cx="9233406" cy="5750125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 lvl="0"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8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4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Select NON DIT Draft Application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Search for Link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Click get details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SPAN, CROSSING and POLE details eligible for ROW will be displayed.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Select SPAN segment and create application</a:t>
            </a:r>
          </a:p>
        </p:txBody>
      </p:sp>
    </p:spTree>
    <p:extLst>
      <p:ext uri="{BB962C8B-B14F-4D97-AF65-F5344CB8AC3E}">
        <p14:creationId xmlns:p14="http://schemas.microsoft.com/office/powerpoint/2010/main" val="1060272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467891D-04D4-4995-B2AD-4398D8900050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79" t="279" r="279" b="279"/>
          <a:stretch/>
        </p:blipFill>
        <p:spPr bwMode="gray">
          <a:xfrm>
            <a:off x="407988" y="874255"/>
            <a:ext cx="9236526" cy="5739196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5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19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38E219A-1E37-4867-958E-0858EAA4521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720" t="720" r="720" b="7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6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b="1" dirty="0">
                <a:solidFill>
                  <a:schemeClr val="tx1"/>
                </a:solidFill>
              </a:rPr>
              <a:t>SPAN split/update 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User can Split Span and update another author via Update Authority page before application creation</a:t>
            </a:r>
          </a:p>
        </p:txBody>
      </p:sp>
    </p:spTree>
    <p:extLst>
      <p:ext uri="{BB962C8B-B14F-4D97-AF65-F5344CB8AC3E}">
        <p14:creationId xmlns:p14="http://schemas.microsoft.com/office/powerpoint/2010/main" val="2873903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7BBE34C-240E-48A9-96FE-560ACBC58B70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7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742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0A3BD5A-8C3E-4860-965F-51C8414501B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8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16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8F6E88E-4F74-406C-8770-7EEC2B34E55D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437" t="437" r="437" b="437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9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9144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6F5E46-82B2-4ECC-9DD6-DD5B94D0BEC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10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55031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417C66-DDB2-4981-9CE9-50A9CB9F0827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437" t="437" r="437" b="437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11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677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185280-DADA-4B06-8FC2-88325EABF54F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55" t="255" r="255" b="255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12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7568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66A1D30-9538-4AC9-A232-8698CEB17CE4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603" t="603" r="603" b="603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13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87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61AFBF8-EDD4-4638-8C7D-F75D44E838E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14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73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A240DBE-2217-4DDC-877F-FDA6C07F385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15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2712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E521BCF-6578-42B6-B841-06DD54C3EA38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16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3493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89BB6D-E78A-4F42-988E-C2A716B67F0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728" t="728" r="728" b="728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17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0859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41FA012-42F2-4697-95F7-C5CBCA742A7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18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sz="1400" b="1" dirty="0">
                <a:solidFill>
                  <a:schemeClr val="tx1"/>
                </a:solidFill>
              </a:rPr>
              <a:t>Merge Application</a:t>
            </a:r>
          </a:p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User can merge multiple application and generate application</a:t>
            </a:r>
          </a:p>
        </p:txBody>
      </p:sp>
    </p:spTree>
    <p:extLst>
      <p:ext uri="{BB962C8B-B14F-4D97-AF65-F5344CB8AC3E}">
        <p14:creationId xmlns:p14="http://schemas.microsoft.com/office/powerpoint/2010/main" val="2794407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55E6ED5-623A-4B76-B3BE-103C13B2EF81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19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25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BF532E8-E96B-4A1F-99D9-D463C56B3F2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420" t="420" r="420" b="420"/>
          <a:stretch/>
        </p:blipFill>
        <p:spPr bwMode="gray">
          <a:xfrm>
            <a:off x="406400" y="851084"/>
            <a:ext cx="9232712" cy="575012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20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2760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AC9CF55-A4C0-452F-BFF6-A2E4D4A9BD53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459" t="459" r="459" b="459"/>
          <a:stretch/>
        </p:blipFill>
        <p:spPr bwMode="gray">
          <a:xfrm>
            <a:off x="406400" y="851084"/>
            <a:ext cx="9232712" cy="569736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21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284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BF167D3-775E-4AED-8C1A-DFC5B3F002F1}"/>
              </a:ext>
            </a:extLst>
          </p:cNvPr>
          <p:cNvPicPr/>
          <p:nvPr/>
        </p:nvPicPr>
        <p:blipFill rotWithShape="1">
          <a:blip r:embed="rId3"/>
          <a:srcRect l="728" t="728" r="728" b="728"/>
          <a:stretch/>
        </p:blipFill>
        <p:spPr bwMode="gray">
          <a:xfrm>
            <a:off x="407988" y="2606450"/>
            <a:ext cx="9231124" cy="401793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79329DD-5CA1-4DB8-A624-86DD19FC102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194" y="1241650"/>
          <a:ext cx="9250868" cy="1270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0666">
                  <a:extLst>
                    <a:ext uri="{9D8B030D-6E8A-4147-A177-3AD203B41FA5}">
                      <a16:colId xmlns:a16="http://schemas.microsoft.com/office/drawing/2014/main" val="2321824936"/>
                    </a:ext>
                  </a:extLst>
                </a:gridCol>
                <a:gridCol w="2639090">
                  <a:extLst>
                    <a:ext uri="{9D8B030D-6E8A-4147-A177-3AD203B41FA5}">
                      <a16:colId xmlns:a16="http://schemas.microsoft.com/office/drawing/2014/main" val="113530382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215839863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1904970037"/>
                    </a:ext>
                  </a:extLst>
                </a:gridCol>
                <a:gridCol w="1637562">
                  <a:extLst>
                    <a:ext uri="{9D8B030D-6E8A-4147-A177-3AD203B41FA5}">
                      <a16:colId xmlns:a16="http://schemas.microsoft.com/office/drawing/2014/main" val="1959164934"/>
                    </a:ext>
                  </a:extLst>
                </a:gridCol>
                <a:gridCol w="1116750">
                  <a:extLst>
                    <a:ext uri="{9D8B030D-6E8A-4147-A177-3AD203B41FA5}">
                      <a16:colId xmlns:a16="http://schemas.microsoft.com/office/drawing/2014/main" val="1504375786"/>
                    </a:ext>
                  </a:extLst>
                </a:gridCol>
              </a:tblGrid>
              <a:tr h="2987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Workflow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Task_Name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System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Application Type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Role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Location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738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ROW Application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Application Acknowledgement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ROW Executive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441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ROW Application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Joint Survey Details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ROW Executive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3218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ROW Application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Application Processing Fee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ROW Executive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052874"/>
                  </a:ext>
                </a:extLst>
              </a:tr>
            </a:tbl>
          </a:graphicData>
        </a:graphic>
      </p:graphicFrame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8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22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82563" indent="-182563">
              <a:spcBef>
                <a:spcPts val="200"/>
              </a:spcBef>
              <a:spcAft>
                <a:spcPts val="200"/>
              </a:spcAft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</a:rPr>
              <a:t>Task will be assigned to user for application submission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EEC3B-BA87-4236-8F51-12E8DC7DD27E}"/>
              </a:ext>
            </a:extLst>
          </p:cNvPr>
          <p:cNvSpPr txBox="1"/>
          <p:nvPr/>
        </p:nvSpPr>
        <p:spPr bwMode="gray">
          <a:xfrm>
            <a:off x="471783" y="930091"/>
            <a:ext cx="295273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1F4798"/>
                </a:solidFill>
              </a:rPr>
              <a:t>Application acknowledgement</a:t>
            </a:r>
            <a:endParaRPr lang="en-IN" sz="1600" b="1" dirty="0">
              <a:solidFill>
                <a:srgbClr val="1F47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5276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2DFCCBB-807C-4379-B871-8F51391363CB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520"/>
          <a:stretch/>
        </p:blipFill>
        <p:spPr bwMode="gray">
          <a:xfrm>
            <a:off x="406400" y="851084"/>
            <a:ext cx="9220200" cy="569736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23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660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70D8BAC-FC53-4C09-9A4F-3A16B4BF856C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270" t="270" r="270" b="270"/>
          <a:stretch/>
        </p:blipFill>
        <p:spPr bwMode="gray">
          <a:xfrm>
            <a:off x="406400" y="851084"/>
            <a:ext cx="9220200" cy="569736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24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8544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E11686-6338-4A18-9DED-4DAD93611B9D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797" t="797" r="797" b="797"/>
          <a:stretch/>
        </p:blipFill>
        <p:spPr bwMode="gray">
          <a:xfrm>
            <a:off x="406399" y="851084"/>
            <a:ext cx="9216065" cy="5697364"/>
          </a:xfrm>
          <a:prstGeom prst="rect">
            <a:avLst/>
          </a:prstGeom>
        </p:spPr>
      </p:pic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25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101D3C-0786-4997-88C7-EDD4A0EF6490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1071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"/>
          <p:cNvSpPr>
            <a:spLocks noGrp="1"/>
          </p:cNvSpPr>
          <p:nvPr>
            <p:ph type="body" sz="quarter" idx="10"/>
          </p:nvPr>
        </p:nvSpPr>
        <p:spPr bwMode="gray">
          <a:xfrm>
            <a:off x="406400" y="121170"/>
            <a:ext cx="11108660" cy="544488"/>
          </a:xfrm>
        </p:spPr>
        <p:txBody>
          <a:bodyPr vert="horz" lIns="0" tIns="45720" rIns="91440" bIns="45720" rtlCol="0" anchor="ctr">
            <a:noAutofit/>
          </a:bodyPr>
          <a:lstStyle/>
          <a:p>
            <a:pPr>
              <a:tabLst>
                <a:tab pos="54292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7.	ROW Application </a:t>
            </a:r>
            <a:r>
              <a:rPr lang="en-US" sz="2000" b="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(Cont’d)</a:t>
            </a:r>
            <a:endParaRPr lang="en-US" sz="2000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 bwMode="gray">
          <a:xfrm>
            <a:off x="11988992" y="6624380"/>
            <a:ext cx="78547" cy="184666"/>
          </a:xfrm>
        </p:spPr>
        <p:txBody>
          <a:bodyPr wrap="none"/>
          <a:lstStyle/>
          <a:p>
            <a:pPr algn="ctr"/>
            <a:fld id="{D6A94BC8-5033-4C8B-8434-02718827CC88}" type="slidenum">
              <a:rPr lang="en-US" smtClean="0"/>
              <a:pPr algn="ctr"/>
              <a:t>26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12582-088D-4BB6-BA1E-57844448841F}"/>
              </a:ext>
            </a:extLst>
          </p:cNvPr>
          <p:cNvSpPr/>
          <p:nvPr/>
        </p:nvSpPr>
        <p:spPr bwMode="gray">
          <a:xfrm>
            <a:off x="393195" y="862013"/>
            <a:ext cx="11463844" cy="5751438"/>
          </a:xfrm>
          <a:prstGeom prst="roundRect">
            <a:avLst>
              <a:gd name="adj" fmla="val 137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47EBC6-2380-4E8B-A63D-DB6A51CBB0B2}"/>
              </a:ext>
            </a:extLst>
          </p:cNvPr>
          <p:cNvPicPr>
            <a:picLocks/>
          </p:cNvPicPr>
          <p:nvPr/>
        </p:nvPicPr>
        <p:blipFill rotWithShape="1">
          <a:blip r:embed="rId3"/>
          <a:srcRect l="520" t="520" r="520" b="23769"/>
          <a:stretch/>
        </p:blipFill>
        <p:spPr bwMode="gray">
          <a:xfrm>
            <a:off x="406399" y="851084"/>
            <a:ext cx="9220201" cy="3901669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169FBD5-5E57-48E4-A272-BA94C66DBFD1}"/>
              </a:ext>
            </a:extLst>
          </p:cNvPr>
          <p:cNvSpPr/>
          <p:nvPr/>
        </p:nvSpPr>
        <p:spPr bwMode="gray">
          <a:xfrm>
            <a:off x="9771064" y="874255"/>
            <a:ext cx="2085976" cy="5750125"/>
          </a:xfrm>
          <a:prstGeom prst="roundRect">
            <a:avLst>
              <a:gd name="adj" fmla="val 2461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FE9F2AC-F490-4455-9F8D-00F63F31BC8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3194" y="5335185"/>
          <a:ext cx="9232766" cy="12707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0666">
                  <a:extLst>
                    <a:ext uri="{9D8B030D-6E8A-4147-A177-3AD203B41FA5}">
                      <a16:colId xmlns:a16="http://schemas.microsoft.com/office/drawing/2014/main" val="2321824936"/>
                    </a:ext>
                  </a:extLst>
                </a:gridCol>
                <a:gridCol w="3528000">
                  <a:extLst>
                    <a:ext uri="{9D8B030D-6E8A-4147-A177-3AD203B41FA5}">
                      <a16:colId xmlns:a16="http://schemas.microsoft.com/office/drawing/2014/main" val="113530382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1215839863"/>
                    </a:ext>
                  </a:extLst>
                </a:gridCol>
                <a:gridCol w="1368000">
                  <a:extLst>
                    <a:ext uri="{9D8B030D-6E8A-4147-A177-3AD203B41FA5}">
                      <a16:colId xmlns:a16="http://schemas.microsoft.com/office/drawing/2014/main" val="1904970037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1959164934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1504375786"/>
                    </a:ext>
                  </a:extLst>
                </a:gridCol>
              </a:tblGrid>
              <a:tr h="29872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Workflow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Task_Name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System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Application Type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Role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Location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567386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effectLst/>
                        </a:rPr>
                        <a:t>ROW Application</a:t>
                      </a:r>
                      <a:endParaRPr lang="en-IN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Capture Application Processing Fee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ROW Executive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64418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ROW Application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Application Processing Fee - Approval L1</a:t>
                      </a: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SCO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3218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ROW Application</a:t>
                      </a:r>
                      <a:endParaRPr kumimoji="0" lang="en-IN" sz="20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9E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Capture Application Processing Fee - Approval L2</a:t>
                      </a:r>
                      <a:endParaRPr lang="en-IN" sz="12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K2,GIS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Web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State FC&amp;A</a:t>
                      </a: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</a:rPr>
                        <a:t>SHQ</a:t>
                      </a:r>
                      <a:endParaRPr lang="en-IN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D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05287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33C1720-B75A-4A4F-80C6-D06765280F1C}"/>
              </a:ext>
            </a:extLst>
          </p:cNvPr>
          <p:cNvSpPr txBox="1"/>
          <p:nvPr/>
        </p:nvSpPr>
        <p:spPr bwMode="gray">
          <a:xfrm>
            <a:off x="471783" y="5023626"/>
            <a:ext cx="3639201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600" b="1" dirty="0">
                <a:solidFill>
                  <a:srgbClr val="1F4798"/>
                </a:solidFill>
              </a:rPr>
              <a:t>Capture Application Processing Fee</a:t>
            </a:r>
            <a:endParaRPr lang="en-IN" sz="1600" b="1" dirty="0">
              <a:solidFill>
                <a:srgbClr val="1F479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583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459</Words>
  <Application>Microsoft Office PowerPoint</Application>
  <PresentationFormat>Widescreen</PresentationFormat>
  <Paragraphs>149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Arial</vt:lpstr>
      <vt:lpstr>Calibri</vt:lpstr>
      <vt:lpstr>Calibri Light</vt:lpstr>
      <vt:lpstr>Helvetica Neue</vt:lpstr>
      <vt:lpstr>Helvetica Neue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Ajitha Rajkumar</dc:creator>
  <cp:lastModifiedBy>Ajitha Rajkumar</cp:lastModifiedBy>
  <cp:revision>1</cp:revision>
  <dcterms:created xsi:type="dcterms:W3CDTF">2026-03-01T12:04:11Z</dcterms:created>
  <dcterms:modified xsi:type="dcterms:W3CDTF">2026-03-01T12:05:24Z</dcterms:modified>
</cp:coreProperties>
</file>